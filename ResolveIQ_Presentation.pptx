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Frictionless Dispute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Chargeback Resolution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4572000" cy="2286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Submission  · 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Track: Frictionless Dispute &amp; Chargeback Resolution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1508760" cy="1325880"/>
          </a:xfrm>
          <a:prstGeom prst="ROUNDED_RECTANGLE">
            <a:avLst>
              <a:gd name="adj" fmla="val 5517"/>
            </a:avLst>
          </a:prstGeom>
          <a:solidFill>
            <a:srgbClr val="006FCF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52160" y="1810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43800" y="1005840"/>
            <a:ext cx="1508760" cy="1325880"/>
          </a:xfrm>
          <a:prstGeom prst="ROUNDED_RECTANGLE">
            <a:avLst>
              <a:gd name="adj" fmla="val 5517"/>
            </a:avLst>
          </a:prstGeom>
          <a:solidFill>
            <a:srgbClr val="006FCF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543800" y="1810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auto-resolved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560320"/>
            <a:ext cx="1508760" cy="1325880"/>
          </a:xfrm>
          <a:prstGeom prst="ROUNDED_RECTANGLE">
            <a:avLst>
              <a:gd name="adj" fmla="val 5517"/>
            </a:avLst>
          </a:prstGeom>
          <a:solidFill>
            <a:srgbClr val="006FCF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52160" y="33649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dispute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3800" y="2560320"/>
            <a:ext cx="1508760" cy="1325880"/>
          </a:xfrm>
          <a:prstGeom prst="ROUNDED_RECTANGLE">
            <a:avLst>
              <a:gd name="adj" fmla="val 5517"/>
            </a:avLst>
          </a:prstGeom>
          <a:solidFill>
            <a:srgbClr val="006FCF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543800" y="33649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uplift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Dispute Experience is Broken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1A3A6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⏳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14–45 Days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today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1A3A6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Opaque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visibility, no context,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2286000"/>
          </a:xfrm>
          <a:prstGeom prst="ROUNDED_RECTANGLE">
            <a:avLst>
              <a:gd name="adj" fmla="val 4000"/>
            </a:avLst>
          </a:prstGeom>
          <a:solidFill>
            <a:srgbClr val="1A3A6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💸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$25–$50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manually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dispute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1920240" cy="6858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Members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disputes due to friction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3886200"/>
            <a:ext cx="1920240" cy="6858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187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evidence requests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886200"/>
            <a:ext cx="1920240" cy="6858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4187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bandwidth wasted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886200"/>
            <a:ext cx="1920240" cy="6858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4187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audit at scale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ResolveIQ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intelligent layers — one seamless resolution in under 5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06040" cy="2926080"/>
          </a:xfrm>
          <a:prstGeom prst="ROUNDED_RECTANGLE">
            <a:avLst>
              <a:gd name="adj" fmla="val 3509"/>
            </a:avLst>
          </a:prstGeom>
          <a:solidFill>
            <a:srgbClr val="00308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Autopilot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834640"/>
            <a:ext cx="1508760" cy="2286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Auto-collects transaction metadata, merchant data, emails &amp; receipts via NLP — baseline is never zero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2606040" cy="2926080"/>
          </a:xfrm>
          <a:prstGeom prst="ROUNDED_RECTANGLE">
            <a:avLst>
              <a:gd name="adj" fmla="val 3509"/>
            </a:avLst>
          </a:prstGeom>
          <a:solidFill>
            <a:srgbClr val="006FC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FairScore™ Model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2834640"/>
            <a:ext cx="1508760" cy="2286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9260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Dual-perspective AI weighs evidence from both sides across 6 dimensions — not a black-box classifier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606040" cy="2926080"/>
          </a:xfrm>
          <a:prstGeom prst="ROUNDED_RECTANGLE">
            <a:avLst>
              <a:gd name="adj" fmla="val 3509"/>
            </a:avLst>
          </a:prstGeom>
          <a:solidFill>
            <a:srgbClr val="1A5E9E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Engine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2834640"/>
            <a:ext cx="1508760" cy="2286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9260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plain-English decision reasoning grounded in FairScore™ output — for both parties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90672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84B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25312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84B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Autopilot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Evidence Collection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286000" cy="868680"/>
          </a:xfrm>
          <a:prstGeom prst="ROUNDED_RECTANGLE">
            <a:avLst>
              <a:gd name="adj" fmla="val 7368"/>
            </a:avLst>
          </a:prstGeom>
          <a:solidFill>
            <a:srgbClr val="0D255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Metadata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029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MCC · Amount · Terminal 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0" y="1645920"/>
            <a:ext cx="2286000" cy="868680"/>
          </a:xfrm>
          <a:prstGeom prst="ROUNDED_RECTANGLE">
            <a:avLst>
              <a:gd name="adj" fmla="val 7368"/>
            </a:avLst>
          </a:prstGeom>
          <a:solidFill>
            <a:srgbClr val="0D2558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029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confirmations · Receipts · Policy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286000" cy="868680"/>
          </a:xfrm>
          <a:prstGeom prst="ROUNDED_RECTANGLE">
            <a:avLst>
              <a:gd name="adj" fmla="val 7368"/>
            </a:avLst>
          </a:prstGeom>
          <a:solidFill>
            <a:srgbClr val="0D255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7249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NLP Parser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DistilBERT entity extraction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2651760"/>
            <a:ext cx="2286000" cy="868680"/>
          </a:xfrm>
          <a:prstGeom prst="ROUNDED_RECTANGLE">
            <a:avLst>
              <a:gd name="adj" fmla="val 7368"/>
            </a:avLst>
          </a:prstGeom>
          <a:solidFill>
            <a:srgbClr val="0D2558"/>
          </a:solidFill>
          <a:ln/>
        </p:spPr>
      </p:sp>
      <p:sp>
        <p:nvSpPr>
          <p:cNvPr id="20" name="Text 18"/>
          <p:cNvSpPr/>
          <p:nvPr/>
        </p:nvSpPr>
        <p:spPr>
          <a:xfrm>
            <a:off x="299923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27249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Codes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035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Auto-mapped AMEX reason code(s)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2286000" cy="868680"/>
          </a:xfrm>
          <a:prstGeom prst="ROUNDED_RECTANGLE">
            <a:avLst>
              <a:gd name="adj" fmla="val 7368"/>
            </a:avLst>
          </a:prstGeom>
          <a:solidFill>
            <a:srgbClr val="0D2558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7307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Similarity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lookup of past resolved disputes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0" y="3657600"/>
            <a:ext cx="2286000" cy="868680"/>
          </a:xfrm>
          <a:prstGeom prst="ROUNDED_RECTANGLE">
            <a:avLst>
              <a:gd name="adj" fmla="val 7368"/>
            </a:avLst>
          </a:prstGeom>
          <a:solidFill>
            <a:srgbClr val="0D2558"/>
          </a:solidFill>
          <a:ln/>
        </p:spPr>
      </p:sp>
      <p:sp>
        <p:nvSpPr>
          <p:cNvPr id="28" name="Text 26"/>
          <p:cNvSpPr/>
          <p:nvPr/>
        </p:nvSpPr>
        <p:spPr>
          <a:xfrm>
            <a:off x="299923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74720" y="37307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History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tenure · Dispute frequency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1417320"/>
            <a:ext cx="3108960" cy="3383280"/>
          </a:xfrm>
          <a:prstGeom prst="ROUNDED_RECTANGLE">
            <a:avLst>
              <a:gd name="adj" fmla="val 2941"/>
            </a:avLst>
          </a:prstGeom>
          <a:solidFill>
            <a:srgbClr val="0A1F44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1965960"/>
            <a:ext cx="2011680" cy="22860"/>
          </a:xfrm>
          <a:prstGeom prst="RECTANGLE">
            <a:avLst/>
          </a:prstGeom>
          <a:solidFill>
            <a:srgbClr val="006FCF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205740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dispute tools start from an empty form.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Autopilot means the baseline is NEVER zero — dramatically reducing abandonment and incomplete submissions.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can supplement, but never need to start from scratch.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FairScore™ Weighing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Dual-perspective AI — explicit scoring for both card member AND merchant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286000" cy="841248"/>
          </a:xfrm>
          <a:prstGeom prst="ROUNDED_RECTANGLE">
            <a:avLst>
              <a:gd name="adj" fmla="val 7609"/>
            </a:avLst>
          </a:prstGeom>
          <a:solidFill>
            <a:srgbClr val="00308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137160" cy="749808"/>
          </a:xfrm>
          <a:prstGeom prst="ROUNDED_RECTANGLE">
            <a:avLst>
              <a:gd name="adj" fmla="val 26667"/>
            </a:avLst>
          </a:prstGeom>
          <a:solidFill>
            <a:srgbClr val="C8A84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Strength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075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docs from each side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645920"/>
            <a:ext cx="2286000" cy="841248"/>
          </a:xfrm>
          <a:prstGeom prst="ROUNDED_RECTANGLE">
            <a:avLst>
              <a:gd name="adj" fmla="val 7609"/>
            </a:avLst>
          </a:prstGeom>
          <a:solidFill>
            <a:srgbClr val="003087"/>
          </a:solidFill>
          <a:ln/>
        </p:spPr>
      </p:sp>
      <p:sp>
        <p:nvSpPr>
          <p:cNvPr id="12" name="Shape 10"/>
          <p:cNvSpPr/>
          <p:nvPr/>
        </p:nvSpPr>
        <p:spPr>
          <a:xfrm>
            <a:off x="2971800" y="1691640"/>
            <a:ext cx="137160" cy="749808"/>
          </a:xfrm>
          <a:prstGeom prst="ROUNDED_RECTANGLE">
            <a:avLst>
              <a:gd name="adj" fmla="val 26667"/>
            </a:avLst>
          </a:prstGeom>
          <a:solidFill>
            <a:srgbClr val="C8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 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82112" y="2075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vs. chargeback category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2286000" cy="841248"/>
          </a:xfrm>
          <a:prstGeom prst="ROUNDED_RECTANGLE">
            <a:avLst>
              <a:gd name="adj" fmla="val 7609"/>
            </a:avLst>
          </a:prstGeom>
          <a:solidFill>
            <a:srgbClr val="003087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651760"/>
            <a:ext cx="137160" cy="749808"/>
          </a:xfrm>
          <a:prstGeom prst="ROUNDED_RECTANGLE">
            <a:avLst>
              <a:gd name="adj" fmla="val 26667"/>
            </a:avLst>
          </a:prstGeom>
          <a:solidFill>
            <a:srgbClr val="C8A84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History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rate · flags abusers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606040"/>
            <a:ext cx="2286000" cy="841248"/>
          </a:xfrm>
          <a:prstGeom prst="ROUNDED_RECTANGLE">
            <a:avLst>
              <a:gd name="adj" fmla="val 7609"/>
            </a:avLst>
          </a:prstGeom>
          <a:solidFill>
            <a:srgbClr val="003087"/>
          </a:solidFill>
          <a:ln/>
        </p:spPr>
      </p:sp>
      <p:sp>
        <p:nvSpPr>
          <p:cNvPr id="20" name="Shape 18"/>
          <p:cNvSpPr/>
          <p:nvPr/>
        </p:nvSpPr>
        <p:spPr>
          <a:xfrm>
            <a:off x="2971800" y="2651760"/>
            <a:ext cx="137160" cy="749808"/>
          </a:xfrm>
          <a:prstGeom prst="ROUNDED_RECTANGLE">
            <a:avLst>
              <a:gd name="adj" fmla="val 26667"/>
            </a:avLst>
          </a:prstGeom>
          <a:solidFill>
            <a:srgbClr val="C8A84B"/>
          </a:solidFill>
          <a:ln/>
        </p:spPr>
      </p:sp>
      <p:sp>
        <p:nvSpPr>
          <p:cNvPr id="21" name="Text 19"/>
          <p:cNvSpPr/>
          <p:nvPr/>
        </p:nvSpPr>
        <p:spPr>
          <a:xfrm>
            <a:off x="318211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82112" y="3035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frequency check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286000" cy="841248"/>
          </a:xfrm>
          <a:prstGeom prst="ROUNDED_RECTANGLE">
            <a:avLst>
              <a:gd name="adj" fmla="val 7609"/>
            </a:avLst>
          </a:prstGeom>
          <a:solidFill>
            <a:srgbClr val="003087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611880"/>
            <a:ext cx="137160" cy="749808"/>
          </a:xfrm>
          <a:prstGeom prst="ROUNDED_RECTANGLE">
            <a:avLst>
              <a:gd name="adj" fmla="val 26667"/>
            </a:avLst>
          </a:prstGeom>
          <a:solidFill>
            <a:srgbClr val="C8A84B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Precedent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995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vector similarity to past cases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566160"/>
            <a:ext cx="2286000" cy="841248"/>
          </a:xfrm>
          <a:prstGeom prst="ROUNDED_RECTANGLE">
            <a:avLst>
              <a:gd name="adj" fmla="val 7609"/>
            </a:avLst>
          </a:prstGeom>
          <a:solidFill>
            <a:srgbClr val="003087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3611880"/>
            <a:ext cx="137160" cy="749808"/>
          </a:xfrm>
          <a:prstGeom prst="ROUNDED_RECTANGLE">
            <a:avLst>
              <a:gd name="adj" fmla="val 26667"/>
            </a:avLst>
          </a:prstGeom>
          <a:solidFill>
            <a:srgbClr val="C8A84B"/>
          </a:solidFill>
          <a:ln/>
        </p:spPr>
      </p:sp>
      <p:sp>
        <p:nvSpPr>
          <p:cNvPr id="29" name="Text 27"/>
          <p:cNvSpPr/>
          <p:nvPr/>
        </p:nvSpPr>
        <p:spPr>
          <a:xfrm>
            <a:off x="3182112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82112" y="3995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amount thresholds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1417320"/>
            <a:ext cx="3108960" cy="3383280"/>
          </a:xfrm>
          <a:prstGeom prst="ROUNDED_RECTANGLE">
            <a:avLst>
              <a:gd name="adj" fmla="val 2941"/>
            </a:avLst>
          </a:prstGeom>
          <a:solidFill>
            <a:srgbClr val="003087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760720" y="2011680"/>
            <a:ext cx="2743200" cy="1143000"/>
          </a:xfrm>
          <a:prstGeom prst="ROUNDED_RECTANGLE">
            <a:avLst>
              <a:gd name="adj" fmla="val 5600"/>
            </a:avLst>
          </a:prstGeom>
          <a:solidFill>
            <a:srgbClr val="006FCF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760720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3383280"/>
            <a:ext cx="2743200" cy="1143000"/>
          </a:xfrm>
          <a:prstGeom prst="ROUNDED_RECTANGLE">
            <a:avLst>
              <a:gd name="adj" fmla="val 5600"/>
            </a:avLst>
          </a:prstGeom>
          <a:solidFill>
            <a:srgbClr val="006FCF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SHAP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760720" y="4005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a black box)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0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Favour Card Member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Favour Merchant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Escalate to Human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was this decided?" — every outcome explained in plain English, to both parties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023360" cy="2286000"/>
          </a:xfrm>
          <a:prstGeom prst="ROUNDED_RECTANGLE">
            <a:avLst>
              <a:gd name="adj" fmla="val 4000"/>
            </a:avLst>
          </a:prstGeom>
          <a:solidFill>
            <a:srgbClr val="0D25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Card Member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resolved this dispute in your favour because: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merchant couldn't provide a signed delivery confirmation within the required window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amount didn't match your receipt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94% of similar cases resolved in card member's favour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per AMEX Chargeback Code 4513."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023360" cy="2286000"/>
          </a:xfrm>
          <a:prstGeom prst="ROUNDED_RECTANGLE">
            <a:avLst>
              <a:gd name="adj" fmla="val 4000"/>
            </a:avLst>
          </a:prstGeom>
          <a:solidFill>
            <a:srgbClr val="0D255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Merchant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084832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were unable to resolve this in your favour because: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confirmation post-dates the dispute filing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description on receipt doesn't match the transaction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reviewing your order fulfilment timestamps and aligning receipt line items with transaction records."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2606040" cy="685800"/>
          </a:xfrm>
          <a:prstGeom prst="ROUNDED_RECTANGLE">
            <a:avLst>
              <a:gd name="adj" fmla="val 9333"/>
            </a:avLst>
          </a:prstGeom>
          <a:solidFill>
            <a:srgbClr val="006FC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14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40% fewer appeals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4114800"/>
            <a:ext cx="2606040" cy="685800"/>
          </a:xfrm>
          <a:prstGeom prst="ROUNDED_RECTANGLE">
            <a:avLst>
              <a:gd name="adj" fmla="val 9333"/>
            </a:avLst>
          </a:prstGeom>
          <a:solidFill>
            <a:srgbClr val="006FCF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4114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Regulatory-ready (CFPB, EU AI Act)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114800"/>
            <a:ext cx="2606040" cy="685800"/>
          </a:xfrm>
          <a:prstGeom prst="ROUNDED_RECTANGLE">
            <a:avLst>
              <a:gd name="adj" fmla="val 9333"/>
            </a:avLst>
          </a:prstGeom>
          <a:solidFill>
            <a:srgbClr val="006FCF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4114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Grounded in FairScore™ weights — not post-hoc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ResolveIQ Different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21792"/>
          </a:xfrm>
          <a:prstGeom prst="ROUNDED_RECTANGLE">
            <a:avLst>
              <a:gd name="adj" fmla="val 5882"/>
            </a:avLst>
          </a:prstGeom>
          <a:solidFill>
            <a:srgbClr val="E8EDF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90472"/>
            <a:ext cx="502920" cy="475488"/>
          </a:xfrm>
          <a:prstGeom prst="ROUNDED_RECTANGLE">
            <a:avLst>
              <a:gd name="adj" fmla="val 9615"/>
            </a:avLst>
          </a:prstGeom>
          <a:solidFill>
            <a:srgbClr val="00308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04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904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Evidence Collection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0" y="1581912"/>
            <a:ext cx="18288" cy="292608"/>
          </a:xfrm>
          <a:prstGeom prst="RECTANGLE">
            <a:avLst/>
          </a:prstGeom>
          <a:solidFill>
            <a:srgbClr val="006FC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49047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auto-pulled — no manual upload required as baseline. Biggest friction reducer in the dispute funnel.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8229600" cy="621792"/>
          </a:xfrm>
          <a:prstGeom prst="ROUNDED_RECTANGLE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85416"/>
            <a:ext cx="502920" cy="475488"/>
          </a:xfrm>
          <a:prstGeom prst="ROUNDED_RECTANGLE">
            <a:avLst>
              <a:gd name="adj" fmla="val 9615"/>
            </a:avLst>
          </a:prstGeom>
          <a:solidFill>
            <a:srgbClr val="00308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854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1854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Dual-Perspective Fairness Model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23360" y="2276856"/>
            <a:ext cx="18288" cy="292608"/>
          </a:xfrm>
          <a:prstGeom prst="RECTANGLE">
            <a:avLst/>
          </a:prstGeom>
          <a:solidFill>
            <a:srgbClr val="006FC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18541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models both sides. Most tools default to protecting card members. We model merchant fairness too.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07208"/>
            <a:ext cx="8229600" cy="621792"/>
          </a:xfrm>
          <a:prstGeom prst="ROUNDED_RECTANGLE">
            <a:avLst>
              <a:gd name="adj" fmla="val 5882"/>
            </a:avLst>
          </a:prstGeom>
          <a:solidFill>
            <a:srgbClr val="E8EDF3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880360"/>
            <a:ext cx="502920" cy="475488"/>
          </a:xfrm>
          <a:prstGeom prst="ROUNDED_RECTANGLE">
            <a:avLst>
              <a:gd name="adj" fmla="val 9615"/>
            </a:avLst>
          </a:prstGeom>
          <a:solidFill>
            <a:srgbClr val="00308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80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8803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by Design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023360" y="2971800"/>
            <a:ext cx="18288" cy="292608"/>
          </a:xfrm>
          <a:prstGeom prst="RECTANGLE">
            <a:avLst/>
          </a:prstGeom>
          <a:solidFill>
            <a:srgbClr val="006FC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28803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is structural, not bolted on. Maps directly to EU AI Act Art. 22 &amp; CFPB explainability requirements.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502152"/>
            <a:ext cx="8229600" cy="621792"/>
          </a:xfrm>
          <a:prstGeom prst="ROUNDED_RECTANGLE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575304"/>
            <a:ext cx="502920" cy="475488"/>
          </a:xfrm>
          <a:prstGeom prst="ROUNDED_RECTANGLE">
            <a:avLst>
              <a:gd name="adj" fmla="val 9615"/>
            </a:avLst>
          </a:prstGeom>
          <a:solidFill>
            <a:srgbClr val="00308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753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5753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Precedent Engine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023360" y="3666744"/>
            <a:ext cx="18288" cy="292608"/>
          </a:xfrm>
          <a:prstGeom prst="RECTANGLE">
            <a:avLst/>
          </a:prstGeom>
          <a:solidFill>
            <a:srgbClr val="006FCF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35753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resolved disputes as a knowledge base — decisions are consistent, improvable, and precedent-cited.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197096"/>
            <a:ext cx="8229600" cy="621792"/>
          </a:xfrm>
          <a:prstGeom prst="ROUNDED_RECTANGLE">
            <a:avLst>
              <a:gd name="adj" fmla="val 5882"/>
            </a:avLst>
          </a:prstGeom>
          <a:solidFill>
            <a:srgbClr val="E8EDF3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70248"/>
            <a:ext cx="502920" cy="475488"/>
          </a:xfrm>
          <a:prstGeom prst="ROUNDED_RECTANGLE">
            <a:avLst>
              <a:gd name="adj" fmla="val 9615"/>
            </a:avLst>
          </a:prstGeom>
          <a:solidFill>
            <a:srgbClr val="003087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702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2702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023360" y="4361688"/>
            <a:ext cx="18288" cy="292608"/>
          </a:xfrm>
          <a:prstGeom prst="RECTANGLE">
            <a:avLst/>
          </a:prstGeom>
          <a:solidFill>
            <a:srgbClr val="006FCF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42702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SHA-256 hash-chained log. Every decision, evidence item, and action is verifiably recorded.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508760" cy="1371600"/>
          </a:xfrm>
          <a:prstGeom prst="ROUNDED_RECTANGLE">
            <a:avLst>
              <a:gd name="adj" fmla="val 5333"/>
            </a:avLst>
          </a:prstGeom>
          <a:solidFill>
            <a:srgbClr val="1A3A6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Member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status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4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1508760" cy="1371600"/>
          </a:xfrm>
          <a:prstGeom prst="ROUNDED_RECTANGLE">
            <a:avLst>
              <a:gd name="adj" fmla="val 5333"/>
            </a:avLst>
          </a:prstGeom>
          <a:solidFill>
            <a:srgbClr val="006FCF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075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NLP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DistilBERT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4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1417320"/>
            <a:ext cx="1508760" cy="1371600"/>
          </a:xfrm>
          <a:prstGeom prst="ROUNDED_RECTANGLE">
            <a:avLst>
              <a:gd name="adj" fmla="val 5333"/>
            </a:avLst>
          </a:prstGeom>
          <a:solidFill>
            <a:srgbClr val="1A5E9E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FairScore™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2075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4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0680" y="1417320"/>
            <a:ext cx="1508760" cy="1371600"/>
          </a:xfrm>
          <a:prstGeom prst="ROUNDED_RECTANGLE">
            <a:avLst>
              <a:gd name="adj" fmla="val 5333"/>
            </a:avLst>
          </a:prstGeom>
          <a:solidFill>
            <a:srgbClr val="1A3A6C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075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GPT-4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grounded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A84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1417320"/>
            <a:ext cx="1508760" cy="1371600"/>
          </a:xfrm>
          <a:prstGeom prst="ROUNDED_RECTANGLE">
            <a:avLst>
              <a:gd name="adj" fmla="val 5333"/>
            </a:avLst>
          </a:prstGeom>
          <a:solidFill>
            <a:srgbClr val="0D2558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2075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SNS + 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6492240" cy="320040"/>
          </a:xfrm>
          <a:prstGeom prst="RECTANGLE">
            <a:avLst/>
          </a:prstGeom>
          <a:solidFill>
            <a:srgbClr val="006FC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6492240" cy="228600"/>
          </a:xfrm>
          <a:prstGeom prst="RECTANGLE">
            <a:avLst/>
          </a:prstGeom>
          <a:solidFill>
            <a:srgbClr val="0D255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88920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Tailwind CSS · WebSockets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6492240" cy="2286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88920" y="3474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Node.js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6492240" cy="228600"/>
          </a:xfrm>
          <a:prstGeom prst="RECTANGLE">
            <a:avLst/>
          </a:prstGeom>
          <a:solidFill>
            <a:srgbClr val="0D255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AI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88920" y="3703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· Hugging Face DistilBERT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931920"/>
            <a:ext cx="6492240" cy="2286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88920" y="3931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 values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160520"/>
            <a:ext cx="6492240" cy="228600"/>
          </a:xfrm>
          <a:prstGeom prst="RECTANGLE">
            <a:avLst/>
          </a:prstGeom>
          <a:solidFill>
            <a:srgbClr val="0D255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8892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on PostgreSQL (RAG)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389120"/>
            <a:ext cx="6492240" cy="2286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88920" y="4389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/ GPT-4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617720"/>
            <a:ext cx="6492240" cy="228600"/>
          </a:xfrm>
          <a:prstGeom prst="RECTANGLE">
            <a:avLst/>
          </a:prstGeom>
          <a:solidFill>
            <a:srgbClr val="0D255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617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88920" y="4617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· S3 · RDS · SNS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846320"/>
            <a:ext cx="6492240" cy="228600"/>
          </a:xfrm>
          <a:prstGeom prst="RECTANGLE">
            <a:avLst/>
          </a:prstGeom>
          <a:solidFill>
            <a:srgbClr val="0A1F44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846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Store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8892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PostgreSQL + SHA-256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040880" y="2926080"/>
            <a:ext cx="1645920" cy="1828800"/>
          </a:xfrm>
          <a:prstGeom prst="ROUNDED_RECTANGLE">
            <a:avLst>
              <a:gd name="adj" fmla="val 4444"/>
            </a:avLst>
          </a:prstGeom>
          <a:solidFill>
            <a:srgbClr val="0D2558"/>
          </a:solidFill>
          <a:ln/>
        </p:spPr>
      </p:sp>
      <p:sp>
        <p:nvSpPr>
          <p:cNvPr id="53" name="Text 51"/>
          <p:cNvSpPr/>
          <p:nvPr/>
        </p:nvSpPr>
        <p:spPr>
          <a:xfrm>
            <a:off x="70408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70408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40880" y="4005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· S3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SNS · SES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Portals. One Seamless Experience.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3383280"/>
          </a:xfrm>
          <a:prstGeom prst="ROUNDED_RECTANGLE">
            <a:avLst>
              <a:gd name="adj" fmla="val 3509"/>
            </a:avLst>
          </a:prstGeom>
          <a:solidFill>
            <a:srgbClr val="00308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Card Member Portal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029968"/>
            <a:ext cx="1874520" cy="2286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14884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One-click dispute filing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status tracker (WebSocket)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33756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Plain-language decision 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Evidence supplement upload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1417320"/>
            <a:ext cx="2606040" cy="3383280"/>
          </a:xfrm>
          <a:prstGeom prst="ROUNDED_RECTANGLE">
            <a:avLst>
              <a:gd name="adj" fmla="val 3509"/>
            </a:avLst>
          </a:prstGeom>
          <a:solidFill>
            <a:srgbClr val="006FCF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Merchant Portal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0" y="2029968"/>
            <a:ext cx="1874520" cy="2286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4884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dispute notification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274320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7889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Targeted evidence request (not blanket)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333756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Deadline countdown + submission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393192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Decision rationale + appeal option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1417320"/>
            <a:ext cx="2606040" cy="3383280"/>
          </a:xfrm>
          <a:prstGeom prst="ROUNDED_RECTANGLE">
            <a:avLst>
              <a:gd name="adj" fmla="val 3509"/>
            </a:avLst>
          </a:prstGeom>
          <a:solidFill>
            <a:srgbClr val="1A5E9E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AMEX Ops Dashboard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2029968"/>
            <a:ext cx="1874520" cy="2286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214884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 review queue (low-confidence)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274320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7889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Bulk audit log + export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33756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FairScore™ model monitoring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3640" y="3931920"/>
            <a:ext cx="2331720" cy="475488"/>
          </a:xfrm>
          <a:prstGeom prst="ROUNDED_RECTANGLE">
            <a:avLst>
              <a:gd name="adj" fmla="val 9615"/>
            </a:avLst>
          </a:prstGeom>
          <a:solidFill>
            <a:srgbClr val="0D3070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Fairness metrics + drift alerts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feasible, production-ready in 10 weeks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1984248" cy="3017520"/>
          </a:xfrm>
          <a:prstGeom prst="ROUNDED_RECTANGLE">
            <a:avLst>
              <a:gd name="adj" fmla="val 3687"/>
            </a:avLst>
          </a:prstGeom>
          <a:solidFill>
            <a:srgbClr val="0D255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73352"/>
            <a:ext cx="1801368" cy="502920"/>
          </a:xfrm>
          <a:prstGeom prst="ROUNDED_RECTANGLE">
            <a:avLst>
              <a:gd name="adj" fmla="val 9091"/>
            </a:avLst>
          </a:prstGeom>
          <a:solidFill>
            <a:srgbClr val="006FC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007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Core dispute filing flow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0906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Transaction evidence collection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5478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FairScore™ v1 (rule-based)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0050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Card member &amp; merchant portals MVP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24328" y="1627632"/>
            <a:ext cx="1984248" cy="3017520"/>
          </a:xfrm>
          <a:prstGeom prst="ROUNDED_RECTANGLE">
            <a:avLst>
              <a:gd name="adj" fmla="val 3687"/>
            </a:avLst>
          </a:prstGeom>
          <a:solidFill>
            <a:srgbClr val="0D2558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5768" y="1673352"/>
            <a:ext cx="1801368" cy="502920"/>
          </a:xfrm>
          <a:prstGeom prst="ROUNDED_RECTANGLE">
            <a:avLst>
              <a:gd name="adj" fmla="val 9091"/>
            </a:avLst>
          </a:prstGeom>
          <a:solidFill>
            <a:srgbClr val="006FCF"/>
          </a:solidFill>
          <a:ln/>
        </p:spPr>
      </p:sp>
      <p:sp>
        <p:nvSpPr>
          <p:cNvPr id="18" name="Text 16"/>
          <p:cNvSpPr/>
          <p:nvPr/>
        </p:nvSpPr>
        <p:spPr>
          <a:xfrm>
            <a:off x="2715768" y="17007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15768" y="1938528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15768" y="2240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61488" y="26334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NLP evidence parser (spaCy)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61488" y="30906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XGBoost FairScore™ model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61488" y="35478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pgvector precedent engine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61488" y="40050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Synthetic training data 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91456" y="1627632"/>
            <a:ext cx="1984248" cy="3017520"/>
          </a:xfrm>
          <a:prstGeom prst="ROUNDED_RECTANGLE">
            <a:avLst>
              <a:gd name="adj" fmla="val 3687"/>
            </a:avLst>
          </a:prstGeom>
          <a:solidFill>
            <a:srgbClr val="0D2558"/>
          </a:solidFill>
          <a:ln/>
        </p:spPr>
      </p:sp>
      <p:sp>
        <p:nvSpPr>
          <p:cNvPr id="26" name="Shape 24"/>
          <p:cNvSpPr/>
          <p:nvPr/>
        </p:nvSpPr>
        <p:spPr>
          <a:xfrm>
            <a:off x="4882896" y="1673352"/>
            <a:ext cx="1801368" cy="502920"/>
          </a:xfrm>
          <a:prstGeom prst="ROUNDED_RECTANGLE">
            <a:avLst>
              <a:gd name="adj" fmla="val 9091"/>
            </a:avLst>
          </a:prstGeom>
          <a:solidFill>
            <a:srgbClr val="006FCF"/>
          </a:solidFill>
          <a:ln/>
        </p:spPr>
      </p:sp>
      <p:sp>
        <p:nvSpPr>
          <p:cNvPr id="27" name="Text 25"/>
          <p:cNvSpPr/>
          <p:nvPr/>
        </p:nvSpPr>
        <p:spPr>
          <a:xfrm>
            <a:off x="4882896" y="17007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82896" y="1938528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2896" y="2240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28616" y="26334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 decision explanations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28616" y="30906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SHAP integration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28616" y="35478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log with hash chaining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28616" y="40050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Appeal flow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58584" y="1627632"/>
            <a:ext cx="1984248" cy="3017520"/>
          </a:xfrm>
          <a:prstGeom prst="ROUNDED_RECTANGLE">
            <a:avLst>
              <a:gd name="adj" fmla="val 3687"/>
            </a:avLst>
          </a:prstGeom>
          <a:solidFill>
            <a:srgbClr val="0D2558"/>
          </a:solidFill>
          <a:ln/>
        </p:spPr>
      </p:sp>
      <p:sp>
        <p:nvSpPr>
          <p:cNvPr id="35" name="Shape 33"/>
          <p:cNvSpPr/>
          <p:nvPr/>
        </p:nvSpPr>
        <p:spPr>
          <a:xfrm>
            <a:off x="7050024" y="1673352"/>
            <a:ext cx="1801368" cy="502920"/>
          </a:xfrm>
          <a:prstGeom prst="ROUNDED_RECTANGLE">
            <a:avLst>
              <a:gd name="adj" fmla="val 9091"/>
            </a:avLst>
          </a:prstGeom>
          <a:solidFill>
            <a:srgbClr val="006FCF"/>
          </a:solidFill>
          <a:ln/>
        </p:spPr>
      </p:sp>
      <p:sp>
        <p:nvSpPr>
          <p:cNvPr id="36" name="Text 34"/>
          <p:cNvSpPr/>
          <p:nvPr/>
        </p:nvSpPr>
        <p:spPr>
          <a:xfrm>
            <a:off x="7050024" y="170078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50024" y="1938528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50024" y="2240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Polish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95744" y="26334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AMEX Ops 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95744" y="30906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monitoring (Prometheus)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95744" y="35478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Fairness metrics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95744" y="40050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End-to-end testing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645152"/>
            <a:ext cx="2606040" cy="365760"/>
          </a:xfrm>
          <a:prstGeom prst="ROUNDED_RECTANGLE">
            <a:avLst>
              <a:gd name="adj" fmla="val 12500"/>
            </a:avLst>
          </a:prstGeom>
          <a:solidFill>
            <a:srgbClr val="C8A84B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645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AI: No research-level ML needed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4645152"/>
            <a:ext cx="2606040" cy="365760"/>
          </a:xfrm>
          <a:prstGeom prst="ROUNDED_RECTANGLE">
            <a:avLst>
              <a:gd name="adj" fmla="val 12500"/>
            </a:avLst>
          </a:prstGeom>
          <a:solidFill>
            <a:srgbClr val="C8A84B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4645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Each layer independently deployable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26480" y="4645152"/>
            <a:ext cx="2606040" cy="365760"/>
          </a:xfrm>
          <a:prstGeom prst="ROUNDED_RECTANGLE">
            <a:avLst>
              <a:gd name="adj" fmla="val 12500"/>
            </a:avLst>
          </a:prstGeom>
          <a:solidFill>
            <a:srgbClr val="C8A84B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4645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Human-in-loop: Low-confidence → human review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011680" cy="274320"/>
          </a:xfrm>
          <a:prstGeom prst="ROUNDED_RECTANGLE">
            <a:avLst>
              <a:gd name="adj" fmla="val 16667"/>
            </a:avLst>
          </a:prstGeom>
          <a:solidFill>
            <a:srgbClr val="006FC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Value for AMEX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1920240" cy="1234440"/>
          </a:xfrm>
          <a:prstGeom prst="ROUNDED_RECTANGLE">
            <a:avLst>
              <a:gd name="adj" fmla="val 5926"/>
            </a:avLst>
          </a:prstGeom>
          <a:solidFill>
            <a:srgbClr val="00308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24328" y="1389888"/>
            <a:ext cx="1920240" cy="1234440"/>
          </a:xfrm>
          <a:prstGeom prst="ROUNDED_RECTANGLE">
            <a:avLst>
              <a:gd name="adj" fmla="val 5926"/>
            </a:avLst>
          </a:prstGeom>
          <a:solidFill>
            <a:srgbClr val="003087"/>
          </a:solidFill>
          <a:ln/>
        </p:spPr>
      </p:sp>
      <p:sp>
        <p:nvSpPr>
          <p:cNvPr id="10" name="Text 8"/>
          <p:cNvSpPr/>
          <p:nvPr/>
        </p:nvSpPr>
        <p:spPr>
          <a:xfrm>
            <a:off x="2624328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$28M+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24328" y="2084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ops savings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(1M disputes)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91456" y="1389888"/>
            <a:ext cx="1920240" cy="1234440"/>
          </a:xfrm>
          <a:prstGeom prst="ROUNDED_RECTANGLE">
            <a:avLst>
              <a:gd name="adj" fmla="val 5926"/>
            </a:avLst>
          </a:prstGeom>
          <a:solidFill>
            <a:srgbClr val="003087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91456" y="2084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58584" y="1389888"/>
            <a:ext cx="1920240" cy="1234440"/>
          </a:xfrm>
          <a:prstGeom prst="ROUNDED_RECTANGLE">
            <a:avLst>
              <a:gd name="adj" fmla="val 5926"/>
            </a:avLst>
          </a:prstGeom>
          <a:solidFill>
            <a:srgbClr val="003087"/>
          </a:solidFill>
          <a:ln/>
        </p:spPr>
      </p:sp>
      <p:sp>
        <p:nvSpPr>
          <p:cNvPr id="16" name="Text 14"/>
          <p:cNvSpPr/>
          <p:nvPr/>
        </p:nvSpPr>
        <p:spPr>
          <a:xfrm>
            <a:off x="6958584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958584" y="20848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4023360" cy="822960"/>
          </a:xfrm>
          <a:prstGeom prst="ROUNDED_RECTANGLE">
            <a:avLst>
              <a:gd name="adj" fmla="val 7778"/>
            </a:avLst>
          </a:prstGeom>
          <a:solidFill>
            <a:srgbClr val="E8EDF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71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auto-resolution rate → $28M+ annual savings on 1M dispute volume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023360" cy="822960"/>
          </a:xfrm>
          <a:prstGeom prst="ROUNDED_RECTANGLE">
            <a:avLst>
              <a:gd name="adj" fmla="val 7778"/>
            </a:avLst>
          </a:prstGeom>
          <a:solidFill>
            <a:srgbClr val="E8EDF3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71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Member Retention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experience is a top driver of churn — fast resolution improves loyalty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4023360" cy="822960"/>
          </a:xfrm>
          <a:prstGeom prst="ROUNDED_RECTANGLE">
            <a:avLst>
              <a:gd name="adj" fmla="val 7778"/>
            </a:avLst>
          </a:prstGeom>
          <a:solidFill>
            <a:srgbClr val="E8EDF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3867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Relations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178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 process strengthens AMEX's merchant network vs competitors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023360" cy="822960"/>
          </a:xfrm>
          <a:prstGeom prst="ROUNDED_RECTANGLE">
            <a:avLst>
              <a:gd name="adj" fmla="val 7778"/>
            </a:avLst>
          </a:prstGeom>
          <a:solidFill>
            <a:srgbClr val="E8EDF3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867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178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+ immutable audit trail future-proofs against CFPB &amp; EU AI 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772400" cy="27432"/>
          </a:xfrm>
          <a:prstGeom prst="RECTANGLE">
            <a:avLst/>
          </a:prstGeom>
          <a:solidFill>
            <a:srgbClr val="C8A84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"Dispute resolution is not a back-office problem — it is a front-line customer experience and a direct driver of card member and merchant loyalty."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1828800"/>
          </a:xfrm>
          <a:prstGeom prst="ROUNDED_RECTANGLE">
            <a:avLst>
              <a:gd name="adj" fmla="val 5000"/>
            </a:avLst>
          </a:prstGeom>
          <a:solidFill>
            <a:srgbClr val="006FC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23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→ &lt; 5 minutes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70% of cases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606040" cy="1828800"/>
          </a:xfrm>
          <a:prstGeom prst="ROUNDED_RECTANGLE">
            <a:avLst>
              <a:gd name="adj" fmla="val 5000"/>
            </a:avLst>
          </a:prstGeom>
          <a:solidFill>
            <a:srgbClr val="006FCF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423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944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3383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Dual-perspective model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for both sides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06040" cy="1828800"/>
          </a:xfrm>
          <a:prstGeom prst="ROUNDED_RECTANGLE">
            <a:avLst>
              <a:gd name="adj" fmla="val 5000"/>
            </a:avLst>
          </a:prstGeom>
          <a:solidFill>
            <a:srgbClr val="006FC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423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944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3383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reasoning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immutable audit trail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faster dispute tool — the foundation of a trust layer between card members, merchants, and the issuer.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ResolveIQ  ·  Frictionless Dispute &amp; Chargeback Resolution  ·  Round 1 Submission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2026-07-24T08:22:15Z</dcterms:created>
  <dcterms:modified xsi:type="dcterms:W3CDTF">2026-07-24T08:22:15Z</dcterms:modified>
</cp:coreProperties>
</file>